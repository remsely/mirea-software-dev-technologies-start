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19" r:id="rId2"/>
    <p:sldId id="479" r:id="rId3"/>
    <p:sldId id="481" r:id="rId4"/>
    <p:sldId id="491" r:id="rId5"/>
    <p:sldId id="482" r:id="rId6"/>
    <p:sldId id="492" r:id="rId7"/>
    <p:sldId id="489" r:id="rId8"/>
    <p:sldId id="493" r:id="rId9"/>
    <p:sldId id="490" r:id="rId10"/>
    <p:sldId id="494" r:id="rId11"/>
    <p:sldId id="495" r:id="rId12"/>
    <p:sldId id="472" r:id="rId13"/>
  </p:sldIdLst>
  <p:sldSz cx="12192000" cy="6858000"/>
  <p:notesSz cx="6858000" cy="9144000"/>
  <p:embeddedFontLst>
    <p:embeddedFont>
      <p:font typeface="Malgun Gothic" panose="020B0503020000020004" pitchFamily="34" charset="-127"/>
      <p:regular r:id="rId16"/>
      <p:bold r:id="rId17"/>
    </p:embeddedFont>
    <p:embeddedFont>
      <p:font typeface="Montserrat Black" panose="020B0604020202020204" charset="-52"/>
      <p:bold r:id="rId18"/>
      <p:boldItalic r:id="rId19"/>
    </p:embeddedFont>
    <p:embeddedFont>
      <p:font typeface="Montserrat Light" panose="020B0604020202020204" charset="-52"/>
      <p:regular r:id="rId20"/>
      <p:italic r:id="rId21"/>
    </p:embeddedFont>
    <p:embeddedFont>
      <p:font typeface="Open Sans" pitchFamily="2" charset="0"/>
      <p:regular r:id="rId22"/>
      <p:bold r:id="rId23"/>
      <p:italic r:id="rId24"/>
      <p:boldItalic r:id="rId25"/>
    </p:embeddedFont>
    <p:embeddedFont>
      <p:font typeface="Open Sans Extrabold" pitchFamily="2" charset="0"/>
      <p:bold r:id="rId26"/>
      <p:boldItalic r:id="rId27"/>
    </p:embeddedFont>
    <p:embeddedFont>
      <p:font typeface="Open Sans Light" pitchFamily="2" charset="0"/>
      <p:regular r:id="rId28"/>
      <p:italic r:id="rId29"/>
    </p:embeddedFont>
    <p:embeddedFont>
      <p:font typeface="Open Sans Medium" pitchFamily="2" charset="0"/>
      <p:regular r:id="rId30"/>
      <p:italic r:id="rId31"/>
    </p:embeddedFont>
    <p:embeddedFont>
      <p:font typeface="Open Sans Semibold" pitchFamily="2" charset="0"/>
      <p:bold r:id="rId32"/>
      <p:boldItalic r:id="rId33"/>
    </p:embeddedFont>
    <p:embeddedFont>
      <p:font typeface="Segoe UI Semibold" panose="020B0702040204020203" pitchFamily="34" charset="0"/>
      <p:bold r:id="rId34"/>
      <p:boldItalic r:id="rId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33E"/>
    <a:srgbClr val="3DDB84"/>
    <a:srgbClr val="00B050"/>
    <a:srgbClr val="25BAA2"/>
    <a:srgbClr val="4286F5"/>
    <a:srgbClr val="FF0033"/>
    <a:srgbClr val="4F4F4F"/>
    <a:srgbClr val="6F6F6F"/>
    <a:srgbClr val="2C2C2C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21" autoAdjust="0"/>
    <p:restoredTop sz="88815" autoAdjust="0"/>
  </p:normalViewPr>
  <p:slideViewPr>
    <p:cSldViewPr snapToGrid="0">
      <p:cViewPr varScale="1">
        <p:scale>
          <a:sx n="140" d="100"/>
          <a:sy n="140" d="100"/>
        </p:scale>
        <p:origin x="73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06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2024-06-04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981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481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Описывая актуальность проекта по созданию форума для дизайнеров интерфейсов, важно выделить несколько ключевых моментов, которые подчеркивают значимость и необходимость такой платформы: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Обмен опытом: В мире дизайна интерфейсов постоянно появляются новые тренды и инструменты. Форум создает уникальную возможность для профессионалов обмениваться опытом, знаниями и лучшими практиками.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Образовательный аспект: На форуме могут появляться обучающие посты и курсы от ведущих специалистов в области UI/UX дизайна. Это помогает новичкам быстро войти в профессию, а опытным дизайнерам повышать свою квалификацию.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Создание сообщества: Форум способствует формированию профессионального сообщества дизайнеров интерфейсов, которое может совместно решать актуальные проблемы, обмениваться контактами и создавать новые проекты.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Определенно, существующее недостаточное количество специализированных форумов для дизайнеров интерфейсов и разбросанность информации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соц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сетях создает ряд трудностей для тех, кто хочет учится дизайну: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Фрагментация информации: Информация о дизайне интерфейсов рассеяна по различным блогам, веб-сайтам и социальным сетям. Поиск конкретной информации или совета может занять значительное количество времени и сил из-за необходимости переходить между множеством разноплановых ресурсов.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Низкое качество контента: В социальных сетях и на открытых платформах часто сложно отличить проверенную информацию от необоснованных мнений. Экспертное сообщество на специализированном форуме могло бы обеспечить публикацию контента высокого качества.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Потеря полезного контента: Важные обсуждения и полезные советы могут легко затеряться или становиться устаревшими в динамичных лентах социальных сетей, где они быстро сменяются новыми публикациями.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614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798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85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156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4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76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768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065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37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488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1EF0FD3E-6D89-4E37-B890-36166C675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74"/>
          <a:stretch/>
        </p:blipFill>
        <p:spPr>
          <a:xfrm>
            <a:off x="7555832" y="0"/>
            <a:ext cx="4636168" cy="6858000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19CF2800-476E-4625-9B3E-D9FA180E10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350E7538-3D8B-4561-A57D-95B3C600623A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E71DBE9-B79D-4D9D-9D0E-0805A444D9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47"/>
          <a:stretch/>
        </p:blipFill>
        <p:spPr>
          <a:xfrm>
            <a:off x="0" y="0"/>
            <a:ext cx="3359217" cy="6858000"/>
          </a:xfrm>
          <a:prstGeom prst="rect">
            <a:avLst/>
          </a:prstGeom>
        </p:spPr>
      </p:pic>
      <p:pic>
        <p:nvPicPr>
          <p:cNvPr id="5" name="Graphic 3">
            <a:hlinkClick r:id="rId3"/>
            <a:extLst>
              <a:ext uri="{FF2B5EF4-FFF2-40B4-BE49-F238E27FC236}">
                <a16:creationId xmlns:a16="http://schemas.microsoft.com/office/drawing/2014/main" id="{A943FD61-4A94-402B-94B5-5060C033CE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1E34864F-5A70-4F21-8A41-A008DBE85CF4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558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177C3D3-69A8-4DE0-9EC9-D6A20CE9A9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E283817D-1720-4E33-BBAA-06FA34BF8FA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44323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64000" bIns="468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42BD6885-1E40-402B-BEBB-8AB86A8CD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B4179ED1-DCD8-46A3-BFB2-5BD3B300093D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049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BF1D9A9-2F5D-4EDC-A21C-68E9098CD3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575"/>
          <a:stretch/>
        </p:blipFill>
        <p:spPr>
          <a:xfrm>
            <a:off x="0" y="0"/>
            <a:ext cx="12192000" cy="1949360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1ABFE3E2-B692-4806-B6F4-3AE33AD5A4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65C8E948-BE3D-42E4-9DD8-1E7AC28B1A7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65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64F65F7-E89E-4C11-9426-0C16DE4BA8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t="23065" r="21875" b="21965"/>
          <a:stretch/>
        </p:blipFill>
        <p:spPr>
          <a:xfrm>
            <a:off x="2667000" y="1544059"/>
            <a:ext cx="6858000" cy="3769882"/>
          </a:xfrm>
          <a:prstGeom prst="rect">
            <a:avLst/>
          </a:prstGeom>
        </p:spPr>
      </p:pic>
      <p:pic>
        <p:nvPicPr>
          <p:cNvPr id="5" name="Graphic 3">
            <a:hlinkClick r:id="rId3"/>
            <a:extLst>
              <a:ext uri="{FF2B5EF4-FFF2-40B4-BE49-F238E27FC236}">
                <a16:creationId xmlns:a16="http://schemas.microsoft.com/office/drawing/2014/main" id="{A0C6348B-DB3A-4401-900C-EBF5DA03A9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6" name="TextBox 5">
            <a:hlinkClick r:id="rId6"/>
            <a:extLst>
              <a:ext uri="{FF2B5EF4-FFF2-40B4-BE49-F238E27FC236}">
                <a16:creationId xmlns:a16="http://schemas.microsoft.com/office/drawing/2014/main" id="{3849D640-2016-4E77-9E36-281A1700FF0E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3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328BE74-3A9A-407A-80A7-F26E850A55BA}"/>
              </a:ext>
            </a:extLst>
          </p:cNvPr>
          <p:cNvSpPr/>
          <p:nvPr userDrawn="1"/>
        </p:nvSpPr>
        <p:spPr>
          <a:xfrm>
            <a:off x="487680" y="457200"/>
            <a:ext cx="11216640" cy="5943600"/>
          </a:xfrm>
          <a:prstGeom prst="rect">
            <a:avLst/>
          </a:prstGeom>
          <a:solidFill>
            <a:srgbClr val="F8B600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800">
              <a:solidFill>
                <a:srgbClr val="1A1941"/>
              </a:solidFill>
              <a:latin typeface="+mj-lt"/>
            </a:endParaRPr>
          </a:p>
        </p:txBody>
      </p:sp>
      <p:pic>
        <p:nvPicPr>
          <p:cNvPr id="5" name="Graphic 3">
            <a:hlinkClick r:id="rId2"/>
            <a:extLst>
              <a:ext uri="{FF2B5EF4-FFF2-40B4-BE49-F238E27FC236}">
                <a16:creationId xmlns:a16="http://schemas.microsoft.com/office/drawing/2014/main" id="{D9F5BDF4-82A7-45CB-AA05-C516F197FA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573D4D2A-5F79-4D00-96B9-FB133D6AAD9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6B687C-FAD2-4785-83CE-9443A1A67B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" t="6666" r="4000" b="6666"/>
          <a:stretch/>
        </p:blipFill>
        <p:spPr>
          <a:xfrm>
            <a:off x="487680" y="457200"/>
            <a:ext cx="1121664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01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8C7506E-9123-43FA-BDB6-1ABE6FE85C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847" b="1"/>
          <a:stretch/>
        </p:blipFill>
        <p:spPr>
          <a:xfrm>
            <a:off x="539400" y="0"/>
            <a:ext cx="11113200" cy="6858000"/>
          </a:xfrm>
          <a:prstGeom prst="rect">
            <a:avLst/>
          </a:prstGeom>
        </p:spPr>
      </p:pic>
      <p:pic>
        <p:nvPicPr>
          <p:cNvPr id="7" name="Graphic 3">
            <a:hlinkClick r:id="rId3"/>
            <a:extLst>
              <a:ext uri="{FF2B5EF4-FFF2-40B4-BE49-F238E27FC236}">
                <a16:creationId xmlns:a16="http://schemas.microsoft.com/office/drawing/2014/main" id="{F75620DE-469F-46A4-9F3D-169049E9BE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B4C98058-9809-46A4-A5B3-5165A1388BEE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739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4">
            <a:extLst>
              <a:ext uri="{FF2B5EF4-FFF2-40B4-BE49-F238E27FC236}">
                <a16:creationId xmlns:a16="http://schemas.microsoft.com/office/drawing/2014/main" id="{70D0E821-4D0E-48B8-ADD8-DB86F3E3D7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8582" y="0"/>
            <a:ext cx="4383418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5" name="Graphic 3">
            <a:hlinkClick r:id="rId2"/>
            <a:extLst>
              <a:ext uri="{FF2B5EF4-FFF2-40B4-BE49-F238E27FC236}">
                <a16:creationId xmlns:a16="http://schemas.microsoft.com/office/drawing/2014/main" id="{3BB600E5-6804-4EAB-9DDA-FE865A4C85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6DCD5319-A477-4622-B6F5-F5EB97C7ECE4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934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E24DCC88-C7B0-4912-803F-4D3B99FA1E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C459E38A-57AD-474C-B2E7-A01FE996DEE4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60E4DB-8EB7-4687-B2D9-A502BE46253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8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DC76C99-7948-42B7-88B3-7C89E93962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" r="66227"/>
          <a:stretch/>
        </p:blipFill>
        <p:spPr>
          <a:xfrm>
            <a:off x="0" y="0"/>
            <a:ext cx="4046220" cy="6858000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EDCA8C58-52DA-4624-9EB8-6D0CD734DF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28157FE8-58C3-4EF8-9361-FBE8B026F37E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77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45CE6F5-6E07-4FAF-830F-3D70E9AC9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74"/>
          <a:stretch/>
        </p:blipFill>
        <p:spPr>
          <a:xfrm>
            <a:off x="9201750" y="0"/>
            <a:ext cx="2990249" cy="6858000"/>
          </a:xfrm>
          <a:prstGeom prst="rect">
            <a:avLst/>
          </a:prstGeom>
        </p:spPr>
      </p:pic>
      <p:pic>
        <p:nvPicPr>
          <p:cNvPr id="8" name="Graphic 3">
            <a:hlinkClick r:id="rId3"/>
            <a:extLst>
              <a:ext uri="{FF2B5EF4-FFF2-40B4-BE49-F238E27FC236}">
                <a16:creationId xmlns:a16="http://schemas.microsoft.com/office/drawing/2014/main" id="{4D34FCF4-67DA-4256-9044-8A140A591C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BB8FBE3C-8902-45A6-8FFF-1C7816942AB0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그림 개체 틀 11">
            <a:extLst>
              <a:ext uri="{FF2B5EF4-FFF2-40B4-BE49-F238E27FC236}">
                <a16:creationId xmlns:a16="http://schemas.microsoft.com/office/drawing/2014/main" id="{18F91022-7D9E-4450-BD68-77063E1F3D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85125" y="815975"/>
            <a:ext cx="2454276" cy="5370289"/>
          </a:xfrm>
          <a:prstGeom prst="roundRect">
            <a:avLst>
              <a:gd name="adj" fmla="val 1345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560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C883186-111E-43C3-8276-CEE4A907A6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68"/>
          <a:stretch/>
        </p:blipFill>
        <p:spPr>
          <a:xfrm>
            <a:off x="9066996" y="0"/>
            <a:ext cx="3125003" cy="6858000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AAF610A7-AF59-4225-A59B-0873E86B97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9C6182DD-CA98-472B-92B6-2007E1DF7683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그림 개체 틀 5">
            <a:extLst>
              <a:ext uri="{FF2B5EF4-FFF2-40B4-BE49-F238E27FC236}">
                <a16:creationId xmlns:a16="http://schemas.microsoft.com/office/drawing/2014/main" id="{590C13C3-FED4-49DF-AEC6-F67F89B2319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79468" y="866775"/>
            <a:ext cx="3779045" cy="5029200"/>
          </a:xfrm>
          <a:prstGeom prst="roundRect">
            <a:avLst>
              <a:gd name="adj" fmla="val 19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046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438B304-9AC8-455D-A64A-518D39726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90"/>
          <a:stretch/>
        </p:blipFill>
        <p:spPr>
          <a:xfrm>
            <a:off x="7960092" y="0"/>
            <a:ext cx="4231907" cy="6858000"/>
          </a:xfrm>
          <a:prstGeom prst="rect">
            <a:avLst/>
          </a:prstGeom>
        </p:spPr>
      </p:pic>
      <p:pic>
        <p:nvPicPr>
          <p:cNvPr id="6" name="Graphic 3">
            <a:hlinkClick r:id="rId3"/>
            <a:extLst>
              <a:ext uri="{FF2B5EF4-FFF2-40B4-BE49-F238E27FC236}">
                <a16:creationId xmlns:a16="http://schemas.microsoft.com/office/drawing/2014/main" id="{3C6F0E6F-FCEB-4C3A-BBC7-1410912DAE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8" name="TextBox 7">
            <a:hlinkClick r:id="rId6"/>
            <a:extLst>
              <a:ext uri="{FF2B5EF4-FFF2-40B4-BE49-F238E27FC236}">
                <a16:creationId xmlns:a16="http://schemas.microsoft.com/office/drawing/2014/main" id="{3FC3A636-3E4C-4D7B-BDF9-0A203DD9FB4B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그림 개체 틀 8">
            <a:extLst>
              <a:ext uri="{FF2B5EF4-FFF2-40B4-BE49-F238E27FC236}">
                <a16:creationId xmlns:a16="http://schemas.microsoft.com/office/drawing/2014/main" id="{36215181-6485-441E-89E3-FFBEA94C4B3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92931" y="674688"/>
            <a:ext cx="6746582" cy="4597400"/>
          </a:xfrm>
          <a:prstGeom prst="roundRect">
            <a:avLst>
              <a:gd name="adj" fmla="val 100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 marL="228600" marR="0" indent="-22860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5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  <a:extLst>
              <a:ext uri="{FF2B5EF4-FFF2-40B4-BE49-F238E27FC236}">
                <a16:creationId xmlns:a16="http://schemas.microsoft.com/office/drawing/2014/main" id="{A2CDFECC-A2AE-44D3-8740-D2DDCAA4D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6" name="TextBox 5">
            <a:hlinkClick r:id="rId5"/>
            <a:extLst>
              <a:ext uri="{FF2B5EF4-FFF2-40B4-BE49-F238E27FC236}">
                <a16:creationId xmlns:a16="http://schemas.microsoft.com/office/drawing/2014/main" id="{7E214B30-219A-412C-AEAC-07F0EAB9CFA8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B46500D7-8456-4A2C-9986-9728BA1189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265ECAB3-7176-4E98-AD56-0BADB3CC71D2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687" r:id="rId14"/>
    <p:sldLayoutId id="2147483664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1.wdp"/><Relationship Id="rId18" Type="http://schemas.openxmlformats.org/officeDocument/2006/relationships/image" Target="../media/image20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3.pn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82D5DB6-04BE-4F30-B74B-E1C1895A9A02}"/>
              </a:ext>
            </a:extLst>
          </p:cNvPr>
          <p:cNvSpPr/>
          <p:nvPr/>
        </p:nvSpPr>
        <p:spPr>
          <a:xfrm>
            <a:off x="7473096" y="0"/>
            <a:ext cx="4718903" cy="6858000"/>
          </a:xfrm>
          <a:prstGeom prst="rect">
            <a:avLst/>
          </a:prstGeom>
          <a:solidFill>
            <a:schemeClr val="bg1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F916B2-4F4A-4B46-84C5-9F10E8117ACA}"/>
              </a:ext>
            </a:extLst>
          </p:cNvPr>
          <p:cNvSpPr txBox="1"/>
          <p:nvPr/>
        </p:nvSpPr>
        <p:spPr>
          <a:xfrm>
            <a:off x="844149" y="1983653"/>
            <a:ext cx="103596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Создание форума для дизайнеров интерфейсов</a:t>
            </a:r>
            <a:endParaRPr lang="ko-KR" altLang="en-US" sz="5400" dirty="0">
              <a:solidFill>
                <a:schemeClr val="tx1">
                  <a:lumMod val="95000"/>
                  <a:lumOff val="5000"/>
                </a:schemeClr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36523B7-4FF4-4065-9865-69C0D09D386D}"/>
              </a:ext>
            </a:extLst>
          </p:cNvPr>
          <p:cNvSpPr/>
          <p:nvPr/>
        </p:nvSpPr>
        <p:spPr>
          <a:xfrm>
            <a:off x="844149" y="4804503"/>
            <a:ext cx="3872995" cy="523220"/>
          </a:xfrm>
          <a:prstGeom prst="roundRect">
            <a:avLst>
              <a:gd name="adj" fmla="val 50000"/>
            </a:avLst>
          </a:prstGeom>
          <a:solidFill>
            <a:srgbClr val="3DDB84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ko-KR" sz="24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РТУ МИРЭА</a:t>
            </a:r>
            <a:endParaRPr lang="ko-KR" altLang="en-US" sz="2400" dirty="0">
              <a:solidFill>
                <a:schemeClr val="bg1"/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8000D0-78FC-4E0F-A8E7-47504CE32604}"/>
              </a:ext>
            </a:extLst>
          </p:cNvPr>
          <p:cNvSpPr txBox="1"/>
          <p:nvPr/>
        </p:nvSpPr>
        <p:spPr>
          <a:xfrm>
            <a:off x="844149" y="5932122"/>
            <a:ext cx="803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altLang="ko-K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Авторы: Прокопчук Р.О., </a:t>
            </a:r>
            <a:r>
              <a:rPr lang="ru-RU" altLang="ko-KR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Бокоев</a:t>
            </a:r>
            <a:r>
              <a:rPr lang="ru-RU" altLang="ko-K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Г.Р.</a:t>
            </a:r>
            <a:br>
              <a:rPr lang="ru-RU" altLang="ko-K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altLang="ko-K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Преподаватель: </a:t>
            </a:r>
            <a:r>
              <a:rPr lang="ru-RU" altLang="ko-KR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Исабекова</a:t>
            </a:r>
            <a:r>
              <a:rPr lang="ru-RU" altLang="ko-K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О.А.</a:t>
            </a:r>
            <a:r>
              <a:rPr lang="ru-RU" altLang="ko-KR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ko-KR" altLang="en-US" sz="2400" dirty="0">
              <a:solidFill>
                <a:schemeClr val="bg1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F8899D-CC18-4BEC-A7F9-8BA9784DD4B7}"/>
              </a:ext>
            </a:extLst>
          </p:cNvPr>
          <p:cNvSpPr/>
          <p:nvPr/>
        </p:nvSpPr>
        <p:spPr>
          <a:xfrm>
            <a:off x="815121" y="689980"/>
            <a:ext cx="815120" cy="297543"/>
          </a:xfrm>
          <a:prstGeom prst="rect">
            <a:avLst/>
          </a:prstGeom>
          <a:solidFill>
            <a:srgbClr val="3DDB84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2E935-4B73-4F14-A99D-83BA74CC9704}"/>
              </a:ext>
            </a:extLst>
          </p:cNvPr>
          <p:cNvSpPr txBox="1"/>
          <p:nvPr/>
        </p:nvSpPr>
        <p:spPr>
          <a:xfrm>
            <a:off x="873177" y="3737979"/>
            <a:ext cx="8031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altLang="ko-K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Технологии разработки программных приложений</a:t>
            </a:r>
            <a:endParaRPr lang="ko-KR" altLang="en-US" sz="2400" dirty="0">
              <a:solidFill>
                <a:schemeClr val="bg1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447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1338234" y="269737"/>
            <a:ext cx="9515532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40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Роли участников проекта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2CEC8B-D4C0-4553-B785-CD2CD499C72F}"/>
              </a:ext>
            </a:extLst>
          </p:cNvPr>
          <p:cNvSpPr/>
          <p:nvPr/>
        </p:nvSpPr>
        <p:spPr>
          <a:xfrm>
            <a:off x="417690" y="1446172"/>
            <a:ext cx="552854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79388"/>
            <a:r>
              <a:rPr lang="ru-RU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Прокопчук Р.О.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: </a:t>
            </a:r>
          </a:p>
          <a:p>
            <a:pPr marL="630238" lvl="1" indent="-173038" defTabSz="179388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Проектирование архитектуры </a:t>
            </a:r>
            <a:b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</a:b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информационной системы</a:t>
            </a:r>
          </a:p>
          <a:p>
            <a:pPr marL="630238" lvl="1" indent="-173038" defTabSz="179388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Проектирование серверной части </a:t>
            </a:r>
            <a:b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</a:b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приложения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T Firs Neue"/>
              <a:ea typeface="Calibri"/>
              <a:cs typeface="Calibri"/>
            </a:endParaRPr>
          </a:p>
          <a:p>
            <a:pPr marL="630238" lvl="1" indent="-173038" defTabSz="179388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Backend-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разработка</a:t>
            </a:r>
            <a:b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</a:b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T Firs Neue"/>
              <a:ea typeface="Calibri"/>
              <a:cs typeface="Calibri"/>
            </a:endParaRPr>
          </a:p>
          <a:p>
            <a:pPr defTabSz="179388">
              <a:tabLst>
                <a:tab pos="180975" algn="l"/>
              </a:tabLst>
            </a:pPr>
            <a:r>
              <a:rPr lang="ru-RU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Бокоев</a:t>
            </a:r>
            <a:r>
              <a:rPr lang="ru-RU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 Г.Р.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:</a:t>
            </a:r>
          </a:p>
          <a:p>
            <a:pPr marL="630238" lvl="1" indent="-173038" defTabSz="179388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Проектирование клиентской части </a:t>
            </a:r>
            <a:b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</a:b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приложения</a:t>
            </a:r>
          </a:p>
          <a:p>
            <a:pPr marL="630238" lvl="1" indent="-173038" defTabSz="179388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Frontend-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разработка</a:t>
            </a:r>
          </a:p>
          <a:p>
            <a:pPr marL="630238" lvl="1" indent="-173038" defTabSz="179388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T Firs Neue"/>
                <a:ea typeface="Calibri"/>
                <a:cs typeface="Calibri"/>
              </a:rPr>
              <a:t>Разработка дизайна сайта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T Firs Neue"/>
              <a:ea typeface="Calibri"/>
              <a:cs typeface="Calibri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1BFD8B2-A0EE-44D1-A018-78387D8EC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903" y="1336934"/>
            <a:ext cx="6426097" cy="510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10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669117" y="306458"/>
            <a:ext cx="1085376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tabLst>
                <a:tab pos="3498850" algn="l"/>
              </a:tabLst>
            </a:pPr>
            <a:r>
              <a:rPr lang="ru-RU" altLang="ko-KR" sz="40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Актуальность проекта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E17A2-D121-4774-8F69-FC7447AAAB16}"/>
              </a:ext>
            </a:extLst>
          </p:cNvPr>
          <p:cNvSpPr txBox="1"/>
          <p:nvPr/>
        </p:nvSpPr>
        <p:spPr>
          <a:xfrm>
            <a:off x="294802" y="1483830"/>
            <a:ext cx="678333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1588"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 Обмен опытом</a:t>
            </a:r>
          </a:p>
          <a:p>
            <a:pPr marL="182245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82245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2. Образовательный аспект</a:t>
            </a:r>
          </a:p>
          <a:p>
            <a:pPr marL="182245"/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82245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3. Создание сообщества</a:t>
            </a:r>
          </a:p>
          <a:p>
            <a:pPr marL="182245"/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82245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4. Фрагментация информации</a:t>
            </a:r>
          </a:p>
          <a:p>
            <a:pPr marL="182245"/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82245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5. Низкое качество контента</a:t>
            </a:r>
          </a:p>
          <a:p>
            <a:pPr marL="182245"/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82245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6. Потеря полезного контента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3588B0-C32C-4F45-9C1C-35A3DDC3C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2" r="27508"/>
          <a:stretch/>
        </p:blipFill>
        <p:spPr bwMode="auto">
          <a:xfrm>
            <a:off x="5844572" y="1483830"/>
            <a:ext cx="5678311" cy="414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0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669117" y="306458"/>
            <a:ext cx="1085376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tabLst>
                <a:tab pos="3498850" algn="l"/>
              </a:tabLst>
            </a:pPr>
            <a:r>
              <a:rPr lang="ru-RU" altLang="ko-KR" sz="40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Цели и задачи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6" name="Google Shape;896;p170">
            <a:extLst>
              <a:ext uri="{FF2B5EF4-FFF2-40B4-BE49-F238E27FC236}">
                <a16:creationId xmlns:a16="http://schemas.microsoft.com/office/drawing/2014/main" id="{39607325-9E94-4BC1-9F5C-7EFF21026C80}"/>
              </a:ext>
            </a:extLst>
          </p:cNvPr>
          <p:cNvSpPr txBox="1">
            <a:spLocks/>
          </p:cNvSpPr>
          <p:nvPr/>
        </p:nvSpPr>
        <p:spPr>
          <a:xfrm>
            <a:off x="514773" y="932803"/>
            <a:ext cx="10607558" cy="14627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buClr>
                <a:srgbClr val="111B1E"/>
              </a:buClr>
              <a:buSzPts val="2430"/>
            </a:pPr>
            <a:r>
              <a:rPr lang="ru-RU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Open Sans SemiBold" pitchFamily="2" charset="0"/>
                <a:cs typeface="Segoe UI Semibold" panose="020B0702040204020203" pitchFamily="34" charset="0"/>
                <a:sym typeface="Montserrat"/>
              </a:rPr>
              <a:t>Цель</a:t>
            </a:r>
            <a:r>
              <a:rPr lang="ru-RU" sz="4000" b="1" dirty="0">
                <a:solidFill>
                  <a:srgbClr val="9966FF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  <a:sym typeface="Montserrat"/>
              </a:rPr>
              <a:t> </a:t>
            </a:r>
            <a:endParaRPr lang="en-US" sz="4000" dirty="0">
              <a:solidFill>
                <a:srgbClr val="000000"/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Создание форума для дизайнеров интерфейсов</a:t>
            </a:r>
          </a:p>
        </p:txBody>
      </p:sp>
      <p:sp>
        <p:nvSpPr>
          <p:cNvPr id="7" name="Google Shape;896;p170">
            <a:extLst>
              <a:ext uri="{FF2B5EF4-FFF2-40B4-BE49-F238E27FC236}">
                <a16:creationId xmlns:a16="http://schemas.microsoft.com/office/drawing/2014/main" id="{7E77112C-7977-4AF1-A5BC-1CCC522BC2DA}"/>
              </a:ext>
            </a:extLst>
          </p:cNvPr>
          <p:cNvSpPr txBox="1">
            <a:spLocks/>
          </p:cNvSpPr>
          <p:nvPr/>
        </p:nvSpPr>
        <p:spPr>
          <a:xfrm>
            <a:off x="514773" y="2629464"/>
            <a:ext cx="10607040" cy="35004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6000" tIns="36000" rIns="36000" bIns="360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buClr>
                <a:srgbClr val="111B1E"/>
              </a:buClr>
              <a:buSzPts val="2430"/>
            </a:pPr>
            <a:r>
              <a:rPr lang="ru-RU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ea typeface="Montserrat" panose="00000500000000000000"/>
                <a:cs typeface="Segoe UI Semibold" panose="020B0702040204020203" pitchFamily="34" charset="0"/>
                <a:sym typeface="Montserrat"/>
              </a:rPr>
              <a:t>Задачи</a:t>
            </a:r>
            <a:endParaRPr lang="ru-RU" sz="4000" b="1" dirty="0">
              <a:solidFill>
                <a:schemeClr val="tx1">
                  <a:lumMod val="95000"/>
                  <a:lumOff val="5000"/>
                </a:schemeClr>
              </a:solidFill>
              <a:latin typeface="Segoe UI Semibold" panose="020B0702040204020203" pitchFamily="34" charset="0"/>
              <a:ea typeface="Montserrat" panose="00000500000000000000"/>
              <a:cs typeface="Segoe UI Semibold" panose="020B07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1. Проанализировать рынок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2. Проанализировать существующие аналоги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3. Выбрать средства разработки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4. Спроектировать информационную систему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5. Разработать информационную систему</a:t>
            </a:r>
          </a:p>
          <a:p>
            <a:endParaRPr lang="ru-RU" sz="2000" dirty="0">
              <a:solidFill>
                <a:srgbClr val="3E3F56"/>
              </a:solidFill>
              <a:latin typeface="TT Firs Neue"/>
            </a:endParaRPr>
          </a:p>
        </p:txBody>
      </p:sp>
    </p:spTree>
    <p:extLst>
      <p:ext uri="{BB962C8B-B14F-4D97-AF65-F5344CB8AC3E}">
        <p14:creationId xmlns:p14="http://schemas.microsoft.com/office/powerpoint/2010/main" val="2825147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1338233" y="236566"/>
            <a:ext cx="9515532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4000" b="0" dirty="0">
                <a:latin typeface="Open Sans Extrabold" panose="020B0906030804020204" pitchFamily="34" charset="0"/>
                <a:cs typeface="Open Sans Extrabold" panose="020B0906030804020204" pitchFamily="34" charset="0"/>
              </a:rPr>
              <a:t>Функциональное задание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9DDB33C-F8DE-4428-B482-D0404BF99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055186"/>
              </p:ext>
            </p:extLst>
          </p:nvPr>
        </p:nvGraphicFramePr>
        <p:xfrm>
          <a:off x="1748633" y="1281042"/>
          <a:ext cx="8694731" cy="24073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92542">
                  <a:extLst>
                    <a:ext uri="{9D8B030D-6E8A-4147-A177-3AD203B41FA5}">
                      <a16:colId xmlns:a16="http://schemas.microsoft.com/office/drawing/2014/main" val="524770606"/>
                    </a:ext>
                  </a:extLst>
                </a:gridCol>
                <a:gridCol w="1535978">
                  <a:extLst>
                    <a:ext uri="{9D8B030D-6E8A-4147-A177-3AD203B41FA5}">
                      <a16:colId xmlns:a16="http://schemas.microsoft.com/office/drawing/2014/main" val="2451496316"/>
                    </a:ext>
                  </a:extLst>
                </a:gridCol>
                <a:gridCol w="5266211">
                  <a:extLst>
                    <a:ext uri="{9D8B030D-6E8A-4147-A177-3AD203B41FA5}">
                      <a16:colId xmlns:a16="http://schemas.microsoft.com/office/drawing/2014/main" val="2823640276"/>
                    </a:ext>
                  </a:extLst>
                </a:gridCol>
              </a:tblGrid>
              <a:tr h="441550">
                <a:tc gridSpan="2"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Заголовок</a:t>
                      </a:r>
                    </a:p>
                  </a:txBody>
                  <a:tcPr marL="108875" marR="108875" marT="54438" marB="54438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Добавление постов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776763964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Заказчик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Как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Пользователь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653590568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Примечание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Я хочу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Возможность создавать публикации в новостной ленте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056550410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Цель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Чтобы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Делиться своими знаниями и полезными советами по дизайну с другими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151383956"/>
                  </a:ext>
                </a:extLst>
              </a:tr>
            </a:tbl>
          </a:graphicData>
        </a:graphic>
      </p:graphicFrame>
      <p:graphicFrame>
        <p:nvGraphicFramePr>
          <p:cNvPr id="9" name="Таблица 6">
            <a:extLst>
              <a:ext uri="{FF2B5EF4-FFF2-40B4-BE49-F238E27FC236}">
                <a16:creationId xmlns:a16="http://schemas.microsoft.com/office/drawing/2014/main" id="{8BD11056-4A1E-4904-A2C9-8934C8EF3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788940"/>
              </p:ext>
            </p:extLst>
          </p:nvPr>
        </p:nvGraphicFramePr>
        <p:xfrm>
          <a:off x="1748633" y="4024988"/>
          <a:ext cx="8694731" cy="24073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92542">
                  <a:extLst>
                    <a:ext uri="{9D8B030D-6E8A-4147-A177-3AD203B41FA5}">
                      <a16:colId xmlns:a16="http://schemas.microsoft.com/office/drawing/2014/main" val="524770606"/>
                    </a:ext>
                  </a:extLst>
                </a:gridCol>
                <a:gridCol w="1535978">
                  <a:extLst>
                    <a:ext uri="{9D8B030D-6E8A-4147-A177-3AD203B41FA5}">
                      <a16:colId xmlns:a16="http://schemas.microsoft.com/office/drawing/2014/main" val="2451496316"/>
                    </a:ext>
                  </a:extLst>
                </a:gridCol>
                <a:gridCol w="5266211">
                  <a:extLst>
                    <a:ext uri="{9D8B030D-6E8A-4147-A177-3AD203B41FA5}">
                      <a16:colId xmlns:a16="http://schemas.microsoft.com/office/drawing/2014/main" val="2823640276"/>
                    </a:ext>
                  </a:extLst>
                </a:gridCol>
              </a:tblGrid>
              <a:tr h="441550">
                <a:tc gridSpan="2"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Заголовок</a:t>
                      </a:r>
                    </a:p>
                  </a:txBody>
                  <a:tcPr marL="108875" marR="108875" marT="54438" marB="54438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Добавление постов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776763964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Заказчик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Как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Пользователь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653590568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Примечание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Я хочу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Возможность просматривать публикации других пользователей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056550410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Цель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Чтобы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Получать учиться чему-то новому от других и развиваться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151383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824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1338233" y="236566"/>
            <a:ext cx="9515532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4000" b="0" dirty="0">
                <a:latin typeface="Open Sans Extrabold" panose="020B0906030804020204" pitchFamily="34" charset="0"/>
                <a:cs typeface="Open Sans Extrabold" panose="020B0906030804020204" pitchFamily="34" charset="0"/>
              </a:rPr>
              <a:t>Функциональное задание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9DDB33C-F8DE-4428-B482-D0404BF99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390738"/>
              </p:ext>
            </p:extLst>
          </p:nvPr>
        </p:nvGraphicFramePr>
        <p:xfrm>
          <a:off x="1748633" y="1281042"/>
          <a:ext cx="8694731" cy="24073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92542">
                  <a:extLst>
                    <a:ext uri="{9D8B030D-6E8A-4147-A177-3AD203B41FA5}">
                      <a16:colId xmlns:a16="http://schemas.microsoft.com/office/drawing/2014/main" val="524770606"/>
                    </a:ext>
                  </a:extLst>
                </a:gridCol>
                <a:gridCol w="1535978">
                  <a:extLst>
                    <a:ext uri="{9D8B030D-6E8A-4147-A177-3AD203B41FA5}">
                      <a16:colId xmlns:a16="http://schemas.microsoft.com/office/drawing/2014/main" val="2451496316"/>
                    </a:ext>
                  </a:extLst>
                </a:gridCol>
                <a:gridCol w="5266211">
                  <a:extLst>
                    <a:ext uri="{9D8B030D-6E8A-4147-A177-3AD203B41FA5}">
                      <a16:colId xmlns:a16="http://schemas.microsoft.com/office/drawing/2014/main" val="2823640276"/>
                    </a:ext>
                  </a:extLst>
                </a:gridCol>
              </a:tblGrid>
              <a:tr h="441550">
                <a:tc gridSpan="2"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Заголовок</a:t>
                      </a:r>
                    </a:p>
                  </a:txBody>
                  <a:tcPr marL="108875" marR="108875" marT="54438" marB="54438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Оценка записи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776763964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Заказчик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Как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Пользователь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653590568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Примечание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Я хочу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Возможность оценить запись другого пользователя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056550410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Цель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Чтобы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Другие пользователи заметили эту запись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151383956"/>
                  </a:ext>
                </a:extLst>
              </a:tr>
            </a:tbl>
          </a:graphicData>
        </a:graphic>
      </p:graphicFrame>
      <p:graphicFrame>
        <p:nvGraphicFramePr>
          <p:cNvPr id="9" name="Таблица 6">
            <a:extLst>
              <a:ext uri="{FF2B5EF4-FFF2-40B4-BE49-F238E27FC236}">
                <a16:creationId xmlns:a16="http://schemas.microsoft.com/office/drawing/2014/main" id="{8BD11056-4A1E-4904-A2C9-8934C8EF3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477218"/>
              </p:ext>
            </p:extLst>
          </p:nvPr>
        </p:nvGraphicFramePr>
        <p:xfrm>
          <a:off x="1748633" y="4024988"/>
          <a:ext cx="8694731" cy="24073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92542">
                  <a:extLst>
                    <a:ext uri="{9D8B030D-6E8A-4147-A177-3AD203B41FA5}">
                      <a16:colId xmlns:a16="http://schemas.microsoft.com/office/drawing/2014/main" val="524770606"/>
                    </a:ext>
                  </a:extLst>
                </a:gridCol>
                <a:gridCol w="1535978">
                  <a:extLst>
                    <a:ext uri="{9D8B030D-6E8A-4147-A177-3AD203B41FA5}">
                      <a16:colId xmlns:a16="http://schemas.microsoft.com/office/drawing/2014/main" val="2451496316"/>
                    </a:ext>
                  </a:extLst>
                </a:gridCol>
                <a:gridCol w="5266211">
                  <a:extLst>
                    <a:ext uri="{9D8B030D-6E8A-4147-A177-3AD203B41FA5}">
                      <a16:colId xmlns:a16="http://schemas.microsoft.com/office/drawing/2014/main" val="2823640276"/>
                    </a:ext>
                  </a:extLst>
                </a:gridCol>
              </a:tblGrid>
              <a:tr h="441550">
                <a:tc gridSpan="2"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Заголовок</a:t>
                      </a:r>
                    </a:p>
                  </a:txBody>
                  <a:tcPr marL="108875" marR="108875" marT="54438" marB="54438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Добавление комментариев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776763964"/>
                  </a:ext>
                </a:extLst>
              </a:tr>
              <a:tr h="441550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Заказчик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Как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Пользователь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653590568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Примечание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Я хочу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Возможность оставить комментарий под записью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3056550410"/>
                  </a:ext>
                </a:extLst>
              </a:tr>
              <a:tr h="762128"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Цель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Чтобы</a:t>
                      </a:r>
                    </a:p>
                  </a:txBody>
                  <a:tcPr marL="108875" marR="108875" marT="54438" marB="54438"/>
                </a:tc>
                <a:tc>
                  <a:txBody>
                    <a:bodyPr/>
                    <a:lstStyle/>
                    <a:p>
                      <a:r>
                        <a:rPr lang="ru-RU" sz="21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Обсудить запись и новые идеи, пообщаться с другими пользователями</a:t>
                      </a:r>
                    </a:p>
                  </a:txBody>
                  <a:tcPr marL="108875" marR="108875" marT="54438" marB="54438"/>
                </a:tc>
                <a:extLst>
                  <a:ext uri="{0D108BD9-81ED-4DB2-BD59-A6C34878D82A}">
                    <a16:rowId xmlns:a16="http://schemas.microsoft.com/office/drawing/2014/main" val="2151383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123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1338233" y="236566"/>
            <a:ext cx="9515532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40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Существующие аналоги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4" name="직사각형 8">
            <a:extLst>
              <a:ext uri="{FF2B5EF4-FFF2-40B4-BE49-F238E27FC236}">
                <a16:creationId xmlns:a16="http://schemas.microsoft.com/office/drawing/2014/main" id="{E1266CE0-D597-4AAA-B68E-A6DEB75A5C35}"/>
              </a:ext>
            </a:extLst>
          </p:cNvPr>
          <p:cNvSpPr/>
          <p:nvPr/>
        </p:nvSpPr>
        <p:spPr>
          <a:xfrm>
            <a:off x="6096000" y="1208474"/>
            <a:ext cx="5697407" cy="6986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st="63500" dir="5400000" sx="101000" sy="101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DSGNERS!</a:t>
            </a:r>
            <a:endParaRPr lang="ko-KR" altLang="en-US" sz="2800" dirty="0">
              <a:solidFill>
                <a:schemeClr val="tx1"/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5" name="직사각형 10">
            <a:extLst>
              <a:ext uri="{FF2B5EF4-FFF2-40B4-BE49-F238E27FC236}">
                <a16:creationId xmlns:a16="http://schemas.microsoft.com/office/drawing/2014/main" id="{424B618D-028A-4EB4-8040-0B2CBD63965E}"/>
              </a:ext>
            </a:extLst>
          </p:cNvPr>
          <p:cNvSpPr/>
          <p:nvPr/>
        </p:nvSpPr>
        <p:spPr>
          <a:xfrm>
            <a:off x="398593" y="1208474"/>
            <a:ext cx="5697407" cy="6986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st="63500" dir="5400000" sx="101000" sy="101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800" dirty="0" err="1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DesignForum.Ru</a:t>
            </a:r>
            <a:endParaRPr lang="ko-KR" altLang="en-US" sz="2800" dirty="0">
              <a:solidFill>
                <a:schemeClr val="tx1"/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2B78C-DD60-4133-B6A4-1DB3B57EEBF2}"/>
              </a:ext>
            </a:extLst>
          </p:cNvPr>
          <p:cNvSpPr txBox="1"/>
          <p:nvPr/>
        </p:nvSpPr>
        <p:spPr>
          <a:xfrm>
            <a:off x="398595" y="2058804"/>
            <a:ext cx="362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Преимущества</a:t>
            </a:r>
            <a:r>
              <a:rPr lang="ru-RU" altLang="ko-KR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</a:t>
            </a:r>
            <a:endParaRPr lang="en-US" altLang="ko-KR" sz="240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3A79A-90F9-4F2C-9D36-7669F3EFDEE5}"/>
              </a:ext>
            </a:extLst>
          </p:cNvPr>
          <p:cNvSpPr txBox="1"/>
          <p:nvPr/>
        </p:nvSpPr>
        <p:spPr>
          <a:xfrm>
            <a:off x="398594" y="2523834"/>
            <a:ext cx="554935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altLang="ko-KR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Гибкие настройки ленты постов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altLang="ko-KR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Поиск постов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7FC0D9-F22E-49BC-9930-0D8D82559466}"/>
              </a:ext>
            </a:extLst>
          </p:cNvPr>
          <p:cNvSpPr/>
          <p:nvPr/>
        </p:nvSpPr>
        <p:spPr>
          <a:xfrm>
            <a:off x="398593" y="4033145"/>
            <a:ext cx="2282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ko-KR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Недостатки:</a:t>
            </a:r>
            <a:endParaRPr lang="en-US" altLang="ko-KR"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291D2-8659-48C5-A415-C2671C107A05}"/>
              </a:ext>
            </a:extLst>
          </p:cNvPr>
          <p:cNvSpPr txBox="1"/>
          <p:nvPr/>
        </p:nvSpPr>
        <p:spPr>
          <a:xfrm>
            <a:off x="398595" y="4494810"/>
            <a:ext cx="55493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altLang="ko-KR" sz="2400" dirty="0">
                <a:solidFill>
                  <a:srgbClr val="FF00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Устаревший дизайн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altLang="ko-KR" sz="2400" dirty="0">
                <a:solidFill>
                  <a:srgbClr val="FF00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Нет возможности прикреплять изображения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EF75E-4F63-45B6-9582-787C41AD7CF0}"/>
              </a:ext>
            </a:extLst>
          </p:cNvPr>
          <p:cNvSpPr txBox="1"/>
          <p:nvPr/>
        </p:nvSpPr>
        <p:spPr>
          <a:xfrm>
            <a:off x="6096000" y="2058804"/>
            <a:ext cx="362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ko-KR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Преимущества</a:t>
            </a:r>
            <a:r>
              <a:rPr lang="ru-RU" altLang="ko-KR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</a:t>
            </a:r>
            <a:endParaRPr lang="en-US" altLang="ko-KR" sz="240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DC2732-C6DF-4F92-B016-714531580D87}"/>
              </a:ext>
            </a:extLst>
          </p:cNvPr>
          <p:cNvSpPr txBox="1"/>
          <p:nvPr/>
        </p:nvSpPr>
        <p:spPr>
          <a:xfrm>
            <a:off x="6095999" y="2523834"/>
            <a:ext cx="554935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altLang="ko-KR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Гибкие настройки ленты постов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altLang="ko-KR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Есть возможность делиться изображениями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4106CB-BDA3-4947-B6D7-EC6A675923E6}"/>
              </a:ext>
            </a:extLst>
          </p:cNvPr>
          <p:cNvSpPr/>
          <p:nvPr/>
        </p:nvSpPr>
        <p:spPr>
          <a:xfrm>
            <a:off x="6095999" y="4033145"/>
            <a:ext cx="2282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ko-KR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Недостатки:</a:t>
            </a:r>
            <a:endParaRPr lang="en-US" altLang="ko-KR"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D7471-8C5C-4843-895B-21FBCE639EA3}"/>
              </a:ext>
            </a:extLst>
          </p:cNvPr>
          <p:cNvSpPr txBox="1"/>
          <p:nvPr/>
        </p:nvSpPr>
        <p:spPr>
          <a:xfrm>
            <a:off x="6096001" y="4494810"/>
            <a:ext cx="55493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altLang="ko-KR" sz="2400" dirty="0">
                <a:solidFill>
                  <a:srgbClr val="FF0033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Плохой поиск постов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ru-RU" altLang="ko-KR" sz="2400" dirty="0">
              <a:solidFill>
                <a:srgbClr val="FF0033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60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669116" y="146790"/>
            <a:ext cx="1085376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tabLst>
                <a:tab pos="3498850" algn="l"/>
              </a:tabLst>
            </a:pPr>
            <a:r>
              <a:rPr lang="ru-RU" altLang="ko-KR" sz="4000" b="0" dirty="0">
                <a:latin typeface="Open Sans Extrabold" panose="020B0906030804020204" pitchFamily="34" charset="0"/>
                <a:cs typeface="Open Sans Extrabold" panose="020B0906030804020204" pitchFamily="34" charset="0"/>
              </a:rPr>
              <a:t>Архитектура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B45FA16-D871-40AB-882E-09CE9A99A81B}"/>
              </a:ext>
            </a:extLst>
          </p:cNvPr>
          <p:cNvGrpSpPr/>
          <p:nvPr/>
        </p:nvGrpSpPr>
        <p:grpSpPr>
          <a:xfrm>
            <a:off x="262670" y="1033200"/>
            <a:ext cx="5516880" cy="3579506"/>
            <a:chOff x="381001" y="1594474"/>
            <a:chExt cx="5516880" cy="3579506"/>
          </a:xfrm>
        </p:grpSpPr>
        <p:pic>
          <p:nvPicPr>
            <p:cNvPr id="8" name="Picture 36" descr="react original wordmark&quot; Icon - Download for free – Iconduck">
              <a:extLst>
                <a:ext uri="{FF2B5EF4-FFF2-40B4-BE49-F238E27FC236}">
                  <a16:creationId xmlns:a16="http://schemas.microsoft.com/office/drawing/2014/main" id="{0DA87C1E-7AB0-4238-90F9-39B248B5F4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256" y="2177219"/>
              <a:ext cx="1026924" cy="1251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DE95F45-4152-411F-B12C-6CB8A090FCE4}"/>
                </a:ext>
              </a:extLst>
            </p:cNvPr>
            <p:cNvSpPr/>
            <p:nvPr/>
          </p:nvSpPr>
          <p:spPr>
            <a:xfrm>
              <a:off x="381001" y="2098838"/>
              <a:ext cx="5516880" cy="3075142"/>
            </a:xfrm>
            <a:prstGeom prst="roundRect">
              <a:avLst>
                <a:gd name="adj" fmla="val 6391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5A9D00-B07D-4368-9107-0917BCD49EAB}"/>
                </a:ext>
              </a:extLst>
            </p:cNvPr>
            <p:cNvSpPr txBox="1"/>
            <p:nvPr/>
          </p:nvSpPr>
          <p:spPr>
            <a:xfrm>
              <a:off x="2350943" y="1594474"/>
              <a:ext cx="1723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Frontend</a:t>
              </a:r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A1EBF399-1BA0-4303-ACD2-44901D6BDE31}"/>
                </a:ext>
              </a:extLst>
            </p:cNvPr>
            <p:cNvSpPr/>
            <p:nvPr/>
          </p:nvSpPr>
          <p:spPr>
            <a:xfrm>
              <a:off x="505939" y="3535485"/>
              <a:ext cx="1205277" cy="1508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  <a:p>
              <a:pPr algn="ctr"/>
              <a:endPara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  <a:p>
              <a:pPr algn="ctr"/>
              <a:endPara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Router</a:t>
              </a:r>
              <a:endPara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5597624B-8254-4BA4-AAF5-2FD192403103}"/>
                </a:ext>
              </a:extLst>
            </p:cNvPr>
            <p:cNvSpPr/>
            <p:nvPr/>
          </p:nvSpPr>
          <p:spPr>
            <a:xfrm>
              <a:off x="1842647" y="3535485"/>
              <a:ext cx="1969762" cy="1508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br>
                <a:rPr lang="ru-RU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ru-RU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ru-RU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Components</a:t>
              </a:r>
              <a:endPara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723FFFDB-067B-4BE2-8864-A484E7701699}"/>
                </a:ext>
              </a:extLst>
            </p:cNvPr>
            <p:cNvSpPr/>
            <p:nvPr/>
          </p:nvSpPr>
          <p:spPr>
            <a:xfrm>
              <a:off x="3912787" y="3535485"/>
              <a:ext cx="1853664" cy="1508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b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Services</a:t>
              </a:r>
              <a:endPara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8493F83-9F52-4FC5-A61D-683B70EC57E8}"/>
              </a:ext>
            </a:extLst>
          </p:cNvPr>
          <p:cNvGrpSpPr/>
          <p:nvPr/>
        </p:nvGrpSpPr>
        <p:grpSpPr>
          <a:xfrm>
            <a:off x="6412450" y="1026439"/>
            <a:ext cx="5516880" cy="3586267"/>
            <a:chOff x="6379836" y="1587713"/>
            <a:chExt cx="5516880" cy="3586267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949CC6E-8442-41B1-AF8D-6B2D74A67DE5}"/>
                </a:ext>
              </a:extLst>
            </p:cNvPr>
            <p:cNvSpPr/>
            <p:nvPr/>
          </p:nvSpPr>
          <p:spPr>
            <a:xfrm>
              <a:off x="6379836" y="2098838"/>
              <a:ext cx="5516880" cy="3075142"/>
            </a:xfrm>
            <a:prstGeom prst="roundRect">
              <a:avLst>
                <a:gd name="adj" fmla="val 6391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BCB4BE-FE62-4140-AC7F-B844E324D95D}"/>
                </a:ext>
              </a:extLst>
            </p:cNvPr>
            <p:cNvSpPr txBox="1"/>
            <p:nvPr/>
          </p:nvSpPr>
          <p:spPr>
            <a:xfrm>
              <a:off x="8269490" y="1587713"/>
              <a:ext cx="16177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Backend</a:t>
              </a:r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F552ED6F-E00D-4478-A37C-316284BC41D9}"/>
                </a:ext>
              </a:extLst>
            </p:cNvPr>
            <p:cNvSpPr/>
            <p:nvPr/>
          </p:nvSpPr>
          <p:spPr>
            <a:xfrm>
              <a:off x="6504774" y="3535485"/>
              <a:ext cx="1686585" cy="1508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Controller</a:t>
              </a:r>
            </a:p>
          </p:txBody>
        </p:sp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06FCF68B-497F-4BBC-A9B3-5A7238907C11}"/>
                </a:ext>
              </a:extLst>
            </p:cNvPr>
            <p:cNvSpPr/>
            <p:nvPr/>
          </p:nvSpPr>
          <p:spPr>
            <a:xfrm>
              <a:off x="8291736" y="3535485"/>
              <a:ext cx="1573261" cy="1508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Service</a:t>
              </a:r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6676B3E9-AC58-4FB6-BF8A-85394795A3E7}"/>
                </a:ext>
              </a:extLst>
            </p:cNvPr>
            <p:cNvSpPr/>
            <p:nvPr/>
          </p:nvSpPr>
          <p:spPr>
            <a:xfrm>
              <a:off x="9965374" y="3535485"/>
              <a:ext cx="1799911" cy="15087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br>
                <a: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</a:br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Repository</a:t>
              </a:r>
            </a:p>
          </p:txBody>
        </p: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D6C3A125-E708-4381-8CC0-C24DC87ED410}"/>
                </a:ext>
              </a:extLst>
            </p:cNvPr>
            <p:cNvGrpSpPr/>
            <p:nvPr/>
          </p:nvGrpSpPr>
          <p:grpSpPr>
            <a:xfrm>
              <a:off x="8176007" y="2199301"/>
              <a:ext cx="1924538" cy="1235720"/>
              <a:chOff x="5326856" y="1619384"/>
              <a:chExt cx="2179321" cy="1399313"/>
            </a:xfrm>
          </p:grpSpPr>
          <p:pic>
            <p:nvPicPr>
              <p:cNvPr id="21" name="Picture 2">
                <a:extLst>
                  <a:ext uri="{FF2B5EF4-FFF2-40B4-BE49-F238E27FC236}">
                    <a16:creationId xmlns:a16="http://schemas.microsoft.com/office/drawing/2014/main" id="{D38CA336-382B-4E9F-A305-EB1F3BF3F3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2247"/>
              <a:stretch/>
            </p:blipFill>
            <p:spPr bwMode="auto">
              <a:xfrm>
                <a:off x="5882947" y="1619384"/>
                <a:ext cx="1067141" cy="10198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2">
                <a:extLst>
                  <a:ext uri="{FF2B5EF4-FFF2-40B4-BE49-F238E27FC236}">
                    <a16:creationId xmlns:a16="http://schemas.microsoft.com/office/drawing/2014/main" id="{0178A145-DE1A-47EE-B655-0F79F4A098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80" t="27194" b="28418"/>
              <a:stretch/>
            </p:blipFill>
            <p:spPr bwMode="auto">
              <a:xfrm>
                <a:off x="5326856" y="2639258"/>
                <a:ext cx="2179321" cy="379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1DF49C21-B7A7-464F-811F-F956AC58E246}"/>
              </a:ext>
            </a:extLst>
          </p:cNvPr>
          <p:cNvGrpSpPr/>
          <p:nvPr/>
        </p:nvGrpSpPr>
        <p:grpSpPr>
          <a:xfrm>
            <a:off x="8256884" y="5331898"/>
            <a:ext cx="3148083" cy="1298207"/>
            <a:chOff x="8781246" y="4923332"/>
            <a:chExt cx="3148083" cy="1298207"/>
          </a:xfrm>
        </p:grpSpPr>
        <p:pic>
          <p:nvPicPr>
            <p:cNvPr id="25" name="Picture 20">
              <a:extLst>
                <a:ext uri="{FF2B5EF4-FFF2-40B4-BE49-F238E27FC236}">
                  <a16:creationId xmlns:a16="http://schemas.microsoft.com/office/drawing/2014/main" id="{9688BBAC-7CEF-4D8B-B002-6F7E22CB96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71" t="33066" r="3254" b="28933"/>
            <a:stretch/>
          </p:blipFill>
          <p:spPr bwMode="auto">
            <a:xfrm>
              <a:off x="8881051" y="5533579"/>
              <a:ext cx="2961763" cy="5638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290303DA-4349-4A09-9DF9-B76DF591114A}"/>
                </a:ext>
              </a:extLst>
            </p:cNvPr>
            <p:cNvSpPr/>
            <p:nvPr/>
          </p:nvSpPr>
          <p:spPr>
            <a:xfrm>
              <a:off x="8781246" y="5409441"/>
              <a:ext cx="3148083" cy="812098"/>
            </a:xfrm>
            <a:prstGeom prst="roundRect">
              <a:avLst>
                <a:gd name="adj" fmla="val 6391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F3800D-11A8-45BE-8DE8-3B29AE0AAE7C}"/>
                </a:ext>
              </a:extLst>
            </p:cNvPr>
            <p:cNvSpPr txBox="1"/>
            <p:nvPr/>
          </p:nvSpPr>
          <p:spPr>
            <a:xfrm>
              <a:off x="10027056" y="4923332"/>
              <a:ext cx="6783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DB</a:t>
              </a:r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83EFF39-2141-4D43-8916-F1CE47906F51}"/>
              </a:ext>
            </a:extLst>
          </p:cNvPr>
          <p:cNvGrpSpPr/>
          <p:nvPr/>
        </p:nvGrpSpPr>
        <p:grpSpPr>
          <a:xfrm>
            <a:off x="5465732" y="3435927"/>
            <a:ext cx="1260537" cy="585327"/>
            <a:chOff x="5413368" y="3667923"/>
            <a:chExt cx="1365262" cy="585327"/>
          </a:xfrm>
          <a:solidFill>
            <a:srgbClr val="6CB33E"/>
          </a:solidFill>
        </p:grpSpPr>
        <p:sp>
          <p:nvSpPr>
            <p:cNvPr id="29" name="Стрелка: вправо 28">
              <a:extLst>
                <a:ext uri="{FF2B5EF4-FFF2-40B4-BE49-F238E27FC236}">
                  <a16:creationId xmlns:a16="http://schemas.microsoft.com/office/drawing/2014/main" id="{8A1BE975-54A9-4BFB-967D-19965CCD5BB1}"/>
                </a:ext>
              </a:extLst>
            </p:cNvPr>
            <p:cNvSpPr/>
            <p:nvPr/>
          </p:nvSpPr>
          <p:spPr>
            <a:xfrm>
              <a:off x="5413369" y="3667923"/>
              <a:ext cx="1365261" cy="197201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30" name="Стрелка: вправо 29">
              <a:extLst>
                <a:ext uri="{FF2B5EF4-FFF2-40B4-BE49-F238E27FC236}">
                  <a16:creationId xmlns:a16="http://schemas.microsoft.com/office/drawing/2014/main" id="{41E190DF-B057-473E-8C2F-A0B6BA9CA96A}"/>
                </a:ext>
              </a:extLst>
            </p:cNvPr>
            <p:cNvSpPr/>
            <p:nvPr/>
          </p:nvSpPr>
          <p:spPr>
            <a:xfrm rot="10800000">
              <a:off x="5413368" y="4056049"/>
              <a:ext cx="1365261" cy="197201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01E3A209-7242-4702-ACE8-F2CAFBE68B4D}"/>
              </a:ext>
            </a:extLst>
          </p:cNvPr>
          <p:cNvGrpSpPr/>
          <p:nvPr/>
        </p:nvGrpSpPr>
        <p:grpSpPr>
          <a:xfrm rot="5400000">
            <a:off x="10122590" y="4837769"/>
            <a:ext cx="1664029" cy="585327"/>
            <a:chOff x="5413368" y="3667923"/>
            <a:chExt cx="1365262" cy="585327"/>
          </a:xfrm>
        </p:grpSpPr>
        <p:sp>
          <p:nvSpPr>
            <p:cNvPr id="32" name="Стрелка: вправо 31">
              <a:extLst>
                <a:ext uri="{FF2B5EF4-FFF2-40B4-BE49-F238E27FC236}">
                  <a16:creationId xmlns:a16="http://schemas.microsoft.com/office/drawing/2014/main" id="{45789A79-B4A9-4AF2-8BD9-AC68E5589BB3}"/>
                </a:ext>
              </a:extLst>
            </p:cNvPr>
            <p:cNvSpPr/>
            <p:nvPr/>
          </p:nvSpPr>
          <p:spPr>
            <a:xfrm>
              <a:off x="5413369" y="3667923"/>
              <a:ext cx="1365261" cy="197201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33" name="Стрелка: вправо 32">
              <a:extLst>
                <a:ext uri="{FF2B5EF4-FFF2-40B4-BE49-F238E27FC236}">
                  <a16:creationId xmlns:a16="http://schemas.microsoft.com/office/drawing/2014/main" id="{626A0174-D6C1-4322-B718-AD645B291A50}"/>
                </a:ext>
              </a:extLst>
            </p:cNvPr>
            <p:cNvSpPr/>
            <p:nvPr/>
          </p:nvSpPr>
          <p:spPr>
            <a:xfrm rot="10800000">
              <a:off x="5413368" y="4056049"/>
              <a:ext cx="1365261" cy="197201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pic>
        <p:nvPicPr>
          <p:cNvPr id="34" name="Picture 38" descr="React Router Assets and Branding Guidelines">
            <a:extLst>
              <a:ext uri="{FF2B5EF4-FFF2-40B4-BE49-F238E27FC236}">
                <a16:creationId xmlns:a16="http://schemas.microsoft.com/office/drawing/2014/main" id="{8E459F61-D0BE-4A9D-B563-D890B06DB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4" r="24943" b="29722"/>
          <a:stretch/>
        </p:blipFill>
        <p:spPr bwMode="auto">
          <a:xfrm>
            <a:off x="524443" y="3278284"/>
            <a:ext cx="898027" cy="64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13AC7F31-BECF-4DE5-B699-8D3A88E52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380" y="3063020"/>
            <a:ext cx="597996" cy="59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AAF1749-3862-4C0C-B91E-390D17FD8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20"/>
          <a:stretch/>
        </p:blipFill>
        <p:spPr bwMode="auto">
          <a:xfrm>
            <a:off x="2774665" y="3169102"/>
            <a:ext cx="676306" cy="79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9CE50E6-A650-4505-8CEF-FDEAC6867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964" y="3774793"/>
            <a:ext cx="1348389" cy="19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>
            <a:extLst>
              <a:ext uri="{FF2B5EF4-FFF2-40B4-BE49-F238E27FC236}">
                <a16:creationId xmlns:a16="http://schemas.microsoft.com/office/drawing/2014/main" id="{5F37A867-E0E2-48E8-A621-E55AF4332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t="29307" r="79246" b="15000"/>
          <a:stretch/>
        </p:blipFill>
        <p:spPr bwMode="auto">
          <a:xfrm>
            <a:off x="10526429" y="3106396"/>
            <a:ext cx="856354" cy="88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139CB1DB-F8D5-42ED-AFB2-47FD9E4E1D63}"/>
              </a:ext>
            </a:extLst>
          </p:cNvPr>
          <p:cNvGrpSpPr/>
          <p:nvPr/>
        </p:nvGrpSpPr>
        <p:grpSpPr>
          <a:xfrm>
            <a:off x="4386380" y="5294787"/>
            <a:ext cx="2908646" cy="1345332"/>
            <a:chOff x="2220414" y="4762083"/>
            <a:chExt cx="3148083" cy="1345332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8E81BDB4-1B7F-4A5D-8021-A6AE7B9C8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750" y="5295316"/>
              <a:ext cx="2379641" cy="812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DA028A5D-95C2-4728-9A0A-793F85769ACE}"/>
                </a:ext>
              </a:extLst>
            </p:cNvPr>
            <p:cNvSpPr/>
            <p:nvPr/>
          </p:nvSpPr>
          <p:spPr>
            <a:xfrm>
              <a:off x="2220414" y="5285303"/>
              <a:ext cx="3148083" cy="812098"/>
            </a:xfrm>
            <a:prstGeom prst="roundRect">
              <a:avLst>
                <a:gd name="adj" fmla="val 6391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A56363B-C5D5-4A72-89F0-53D8A4396EC0}"/>
                </a:ext>
              </a:extLst>
            </p:cNvPr>
            <p:cNvSpPr txBox="1"/>
            <p:nvPr/>
          </p:nvSpPr>
          <p:spPr>
            <a:xfrm>
              <a:off x="2356001" y="4762083"/>
              <a:ext cx="27450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Cloud Storage</a:t>
              </a:r>
              <a:endParaRPr lang="ru-RU" dirty="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pic>
        <p:nvPicPr>
          <p:cNvPr id="45" name="Picture 8">
            <a:extLst>
              <a:ext uri="{FF2B5EF4-FFF2-40B4-BE49-F238E27FC236}">
                <a16:creationId xmlns:a16="http://schemas.microsoft.com/office/drawing/2014/main" id="{E4E470DE-EED5-449F-BC27-4FDAA1DB5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902" b="93888" l="10000" r="90000">
                        <a14:foregroundMark x1="31979" y1="27995" x2="30208" y2="30440"/>
                        <a14:foregroundMark x1="34124" y1="38186" x2="33333" y2="42054"/>
                        <a14:foregroundMark x1="23438" y1="58313" x2="23438" y2="58313"/>
                        <a14:foregroundMark x1="23125" y1="58802" x2="23995" y2="58853"/>
                        <a14:foregroundMark x1="43797" y1="62714" x2="43646" y2="66748"/>
                        <a14:foregroundMark x1="44063" y1="55623" x2="44003" y2="57213"/>
                        <a14:foregroundMark x1="28698" y1="70049" x2="32292" y2="71271"/>
                        <a14:foregroundMark x1="29115" y1="79829" x2="31198" y2="79218"/>
                        <a14:foregroundMark x1="29479" y1="88142" x2="31198" y2="88142"/>
                        <a14:foregroundMark x1="31458" y1="93888" x2="33958" y2="93521"/>
                        <a14:foregroundMark x1="22396" y1="81663" x2="22396" y2="81663"/>
                        <a14:foregroundMark x1="24792" y1="92787" x2="24792" y2="92787"/>
                        <a14:foregroundMark x1="31146" y1="52567" x2="31146" y2="52567"/>
                        <a14:foregroundMark x1="26198" y1="55134" x2="26198" y2="55134"/>
                        <a14:foregroundMark x1="23438" y1="81174" x2="23438" y2="81174"/>
                        <a14:foregroundMark x1="52396" y1="46822" x2="52396" y2="51222"/>
                        <a14:foregroundMark x1="66146" y1="55623" x2="67101" y2="59019"/>
                        <a14:foregroundMark x1="75000" y1="58557" x2="73646" y2="62469"/>
                        <a14:foregroundMark x1="69599" y1="54768" x2="69844" y2="54279"/>
                        <a14:foregroundMark x1="66406" y1="61125" x2="67174" y2="59597"/>
                        <a14:foregroundMark x1="69219" y1="63692" x2="69219" y2="63692"/>
                        <a14:foregroundMark x1="69219" y1="63692" x2="69219" y2="63692"/>
                        <a14:foregroundMark x1="69232" y1="63616" x2="69167" y2="64059"/>
                        <a14:foregroundMark x1="69792" y1="59780" x2="69394" y2="62502"/>
                        <a14:foregroundMark x1="66302" y1="60513" x2="67552" y2="65037"/>
                        <a14:foregroundMark x1="68646" y1="65770" x2="69167" y2="63081"/>
                        <a14:foregroundMark x1="68863" y1="62381" x2="67552" y2="66748"/>
                        <a14:backgroundMark x1="37760" y1="34108" x2="35052" y2="36308"/>
                        <a14:backgroundMark x1="34531" y1="36553" x2="34531" y2="36553"/>
                        <a14:backgroundMark x1="37188" y1="32274" x2="34688" y2="37531"/>
                        <a14:backgroundMark x1="36615" y1="34597" x2="35000" y2="37531"/>
                        <a14:backgroundMark x1="36458" y1="38386" x2="34740" y2="37531"/>
                        <a14:backgroundMark x1="28958" y1="57213" x2="26458" y2="58191"/>
                        <a14:backgroundMark x1="29271" y1="58557" x2="33385" y2="58802"/>
                        <a14:backgroundMark x1="34948" y1="58191" x2="34948" y2="58191"/>
                        <a14:backgroundMark x1="34427" y1="58435" x2="34427" y2="58435"/>
                        <a14:backgroundMark x1="33438" y1="59780" x2="33438" y2="59780"/>
                        <a14:backgroundMark x1="34063" y1="59535" x2="34063" y2="59535"/>
                        <a14:backgroundMark x1="34063" y1="59535" x2="33438" y2="59535"/>
                        <a14:backgroundMark x1="25573" y1="57579" x2="26250" y2="59169"/>
                        <a14:backgroundMark x1="28750" y1="59169" x2="24323" y2="58435"/>
                        <a14:backgroundMark x1="27448" y1="58557" x2="24167" y2="58435"/>
                        <a14:backgroundMark x1="24271" y1="58802" x2="24271" y2="58802"/>
                        <a14:backgroundMark x1="23958" y1="58557" x2="23958" y2="58557"/>
                        <a14:backgroundMark x1="23958" y1="58557" x2="23958" y2="58557"/>
                        <a14:backgroundMark x1="24010" y1="58802" x2="24792" y2="59046"/>
                        <a14:backgroundMark x1="42917" y1="60147" x2="43854" y2="61002"/>
                        <a14:backgroundMark x1="43750" y1="57213" x2="43750" y2="62714"/>
                        <a14:backgroundMark x1="36354" y1="40465" x2="34115" y2="38142"/>
                        <a14:backgroundMark x1="82708" y1="48411" x2="81406" y2="48166"/>
                        <a14:backgroundMark x1="82083" y1="51467" x2="80521" y2="47800"/>
                        <a14:backgroundMark x1="68542" y1="53423" x2="68177" y2="622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471" y="1549659"/>
            <a:ext cx="2028397" cy="86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Стрелка: вправо 50">
            <a:extLst>
              <a:ext uri="{FF2B5EF4-FFF2-40B4-BE49-F238E27FC236}">
                <a16:creationId xmlns:a16="http://schemas.microsoft.com/office/drawing/2014/main" id="{1A80DA9C-EFDB-4616-8069-EC3D3F5A22F7}"/>
              </a:ext>
            </a:extLst>
          </p:cNvPr>
          <p:cNvSpPr/>
          <p:nvPr/>
        </p:nvSpPr>
        <p:spPr>
          <a:xfrm rot="8065029">
            <a:off x="6801396" y="5294360"/>
            <a:ext cx="2710695" cy="19720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Стрелка: вправо 51">
            <a:extLst>
              <a:ext uri="{FF2B5EF4-FFF2-40B4-BE49-F238E27FC236}">
                <a16:creationId xmlns:a16="http://schemas.microsoft.com/office/drawing/2014/main" id="{E2ED4E6E-C2DC-4B0A-868E-C8C18D0C6980}"/>
              </a:ext>
            </a:extLst>
          </p:cNvPr>
          <p:cNvSpPr/>
          <p:nvPr/>
        </p:nvSpPr>
        <p:spPr>
          <a:xfrm rot="18865029">
            <a:off x="6820780" y="5124778"/>
            <a:ext cx="2388032" cy="19720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092" name="Picture 20" descr="Picture background">
            <a:extLst>
              <a:ext uri="{FF2B5EF4-FFF2-40B4-BE49-F238E27FC236}">
                <a16:creationId xmlns:a16="http://schemas.microsoft.com/office/drawing/2014/main" id="{6776EAD7-39A5-46D1-B513-023FC7EDF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1" t="12824" r="57519" b="10144"/>
          <a:stretch/>
        </p:blipFill>
        <p:spPr bwMode="auto">
          <a:xfrm>
            <a:off x="477908" y="5848471"/>
            <a:ext cx="791279" cy="78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756FDC5C-A166-453B-80AB-062F6E56E2BA}"/>
              </a:ext>
            </a:extLst>
          </p:cNvPr>
          <p:cNvSpPr/>
          <p:nvPr/>
        </p:nvSpPr>
        <p:spPr>
          <a:xfrm>
            <a:off x="415016" y="5807992"/>
            <a:ext cx="1844999" cy="822113"/>
          </a:xfrm>
          <a:prstGeom prst="roundRect">
            <a:avLst>
              <a:gd name="adj" fmla="val 6391"/>
            </a:avLst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094" name="Picture 22" descr="Picture background">
            <a:extLst>
              <a:ext uri="{FF2B5EF4-FFF2-40B4-BE49-F238E27FC236}">
                <a16:creationId xmlns:a16="http://schemas.microsoft.com/office/drawing/2014/main" id="{BF7EF9A2-4F89-49A9-BE80-07C92FB06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1" r="29492" b="34731"/>
          <a:stretch/>
        </p:blipFill>
        <p:spPr bwMode="auto">
          <a:xfrm>
            <a:off x="1346627" y="5915631"/>
            <a:ext cx="855906" cy="63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4EFFFED-018C-45D8-A1B1-5849A41D19A0}"/>
              </a:ext>
            </a:extLst>
          </p:cNvPr>
          <p:cNvSpPr txBox="1"/>
          <p:nvPr/>
        </p:nvSpPr>
        <p:spPr>
          <a:xfrm>
            <a:off x="597864" y="5284772"/>
            <a:ext cx="1497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DevOps</a:t>
            </a:r>
            <a:endParaRPr lang="ru-RU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7F6FEAD-0F2B-4546-8096-E1572E3DA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889" y="3200168"/>
            <a:ext cx="729374" cy="72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01A5800B-3FBC-4C46-AF46-2392F84CC3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5" t="18034" r="24526" b="16500"/>
          <a:stretch/>
        </p:blipFill>
        <p:spPr bwMode="auto">
          <a:xfrm>
            <a:off x="5894344" y="2900663"/>
            <a:ext cx="413647" cy="53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21DFA9F6-CE1B-4D96-919D-D4982E5BBA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13" t="4742" r="31089" b="45017"/>
          <a:stretch/>
        </p:blipFill>
        <p:spPr bwMode="auto">
          <a:xfrm>
            <a:off x="6962216" y="3119201"/>
            <a:ext cx="841034" cy="826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icture background">
            <a:extLst>
              <a:ext uri="{FF2B5EF4-FFF2-40B4-BE49-F238E27FC236}">
                <a16:creationId xmlns:a16="http://schemas.microsoft.com/office/drawing/2014/main" id="{0E6A6275-42BB-40F1-B2F3-5CB9026CDE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10" t="12410" r="33673" b="33782"/>
          <a:stretch/>
        </p:blipFill>
        <p:spPr bwMode="auto">
          <a:xfrm>
            <a:off x="9403254" y="3039196"/>
            <a:ext cx="396630" cy="53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48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1338233" y="139442"/>
            <a:ext cx="9515532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40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Работа приложения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7838F5-6F66-4D61-8B2D-E20D4AC01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971" y="1614703"/>
            <a:ext cx="4577228" cy="467558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D1492F7-9565-424F-A513-BB40E3ED8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01" y="1046988"/>
            <a:ext cx="4826330" cy="581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48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1338234" y="193231"/>
            <a:ext cx="9515532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ru-RU" altLang="ko-KR" sz="40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Работа приложения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C5D2E28-28CF-47BB-93DE-6F57AF6D249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64666" y="3609436"/>
            <a:ext cx="8495334" cy="187411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4B262B-0D0E-4BCC-94F0-8225CBCE1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666" y="1872598"/>
            <a:ext cx="8495334" cy="121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1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BA052-31AD-4125-B4C9-6CBFC2024FA3}"/>
              </a:ext>
            </a:extLst>
          </p:cNvPr>
          <p:cNvSpPr txBox="1"/>
          <p:nvPr/>
        </p:nvSpPr>
        <p:spPr>
          <a:xfrm>
            <a:off x="669117" y="306458"/>
            <a:ext cx="1085376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tabLst>
                <a:tab pos="3498850" algn="l"/>
              </a:tabLst>
            </a:pPr>
            <a:r>
              <a:rPr lang="ru-RU" altLang="ko-KR" sz="40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Итоги</a:t>
            </a:r>
            <a:endParaRPr lang="ko-KR" altLang="en-US" sz="4000" b="0" dirty="0"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52FA-1829-479E-BB65-6BCF40770E61}"/>
              </a:ext>
            </a:extLst>
          </p:cNvPr>
          <p:cNvSpPr txBox="1"/>
          <p:nvPr/>
        </p:nvSpPr>
        <p:spPr>
          <a:xfrm>
            <a:off x="675322" y="1488810"/>
            <a:ext cx="1084756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268288"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Был проанализирован рынок форумов в сфере дизайна</a:t>
            </a:r>
          </a:p>
          <a:p>
            <a:pPr marL="449263" indent="-268288">
              <a:buAutoNum type="arabicPeriod"/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449263" indent="-268288">
              <a:buFontTx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Были проанализированы существующие аналоги</a:t>
            </a:r>
          </a:p>
          <a:p>
            <a:pPr marL="449263" indent="-268288">
              <a:buFontTx/>
              <a:buAutoNum type="arabicPeriod"/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449263" indent="-268288"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Были выбраны средства разработки</a:t>
            </a:r>
          </a:p>
          <a:p>
            <a:pPr marL="449263" indent="-268288">
              <a:buAutoNum type="arabicPeriod"/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449263" indent="-268288">
              <a:buFontTx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Была спроектирована информационная система</a:t>
            </a:r>
          </a:p>
          <a:p>
            <a:pPr marL="449263" indent="-268288">
              <a:buFontTx/>
              <a:buAutoNum type="arabicPeriod"/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449263" indent="-268288">
              <a:buFontTx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Была разработана информационная система</a:t>
            </a:r>
          </a:p>
          <a:p>
            <a:pPr marL="449263" indent="-268288">
              <a:buFontTx/>
              <a:buAutoNum type="arabicPeriod"/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80975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В результате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был создан сайт для дизайнеров интерфейсов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5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1" y="0"/>
            <a:ext cx="2118361" cy="6858000"/>
          </a:xfrm>
          <a:prstGeom prst="rect">
            <a:avLst/>
          </a:prstGeom>
          <a:solidFill>
            <a:schemeClr val="bg1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51ABFB-6AEA-4EE5-B252-5E4A114BEC67}"/>
              </a:ext>
            </a:extLst>
          </p:cNvPr>
          <p:cNvSpPr txBox="1"/>
          <p:nvPr/>
        </p:nvSpPr>
        <p:spPr>
          <a:xfrm>
            <a:off x="2700895" y="281922"/>
            <a:ext cx="679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ko-KR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Где можно найти проект</a:t>
            </a:r>
            <a:endParaRPr lang="ko-KR" altLang="en-US" sz="2800" dirty="0">
              <a:solidFill>
                <a:srgbClr val="FF0033"/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17" name="직사각형 12">
            <a:extLst>
              <a:ext uri="{FF2B5EF4-FFF2-40B4-BE49-F238E27FC236}">
                <a16:creationId xmlns:a16="http://schemas.microsoft.com/office/drawing/2014/main" id="{7166F184-B62A-49DA-9D7B-2D29C9999658}"/>
              </a:ext>
            </a:extLst>
          </p:cNvPr>
          <p:cNvSpPr/>
          <p:nvPr/>
        </p:nvSpPr>
        <p:spPr>
          <a:xfrm>
            <a:off x="4409860" y="5108300"/>
            <a:ext cx="5081243" cy="1067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36000" rIns="180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https://github.com/Remsely/stArt</a:t>
            </a:r>
          </a:p>
        </p:txBody>
      </p:sp>
      <p:sp>
        <p:nvSpPr>
          <p:cNvPr id="18" name="직사각형 11">
            <a:extLst>
              <a:ext uri="{FF2B5EF4-FFF2-40B4-BE49-F238E27FC236}">
                <a16:creationId xmlns:a16="http://schemas.microsoft.com/office/drawing/2014/main" id="{9AB10E10-3AF2-46E9-A7B6-10AE93EE56D3}"/>
              </a:ext>
            </a:extLst>
          </p:cNvPr>
          <p:cNvSpPr/>
          <p:nvPr/>
        </p:nvSpPr>
        <p:spPr>
          <a:xfrm>
            <a:off x="2700895" y="5108300"/>
            <a:ext cx="1735986" cy="1067342"/>
          </a:xfrm>
          <a:prstGeom prst="rect">
            <a:avLst/>
          </a:prstGeom>
          <a:solidFill>
            <a:srgbClr val="4F4F4F"/>
          </a:solidFill>
          <a:ln>
            <a:noFill/>
          </a:ln>
          <a:effectLst>
            <a:outerShdw blurRad="1270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GitHub</a:t>
            </a:r>
            <a:endParaRPr lang="ko-KR" altLang="en-US" sz="2400" dirty="0">
              <a:solidFill>
                <a:schemeClr val="bg1"/>
              </a:solidFill>
              <a:latin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437D899-50B5-4D57-892A-43A81FD7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4" y="1087064"/>
            <a:ext cx="352425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060578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 Black - Montserrat Light">
      <a:majorFont>
        <a:latin typeface="Montserrat Black"/>
        <a:ea typeface="Arial Unicode MS"/>
        <a:cs typeface=""/>
      </a:majorFont>
      <a:minorFont>
        <a:latin typeface="Montserrat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D73FF"/>
        </a:solidFill>
        <a:ln w="12838" cap="flat">
          <a:noFill/>
          <a:prstDash val="solid"/>
          <a:miter/>
        </a:ln>
        <a:effectLst/>
      </a:spPr>
      <a:bodyPr rtlCol="0" anchor="ctr"/>
      <a:lstStyle>
        <a:defPPr algn="ctr">
          <a:defRPr sz="280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4843</TotalTime>
  <Words>620</Words>
  <Application>Microsoft Office PowerPoint</Application>
  <PresentationFormat>Широкоэкранный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5" baseType="lpstr">
      <vt:lpstr>Open Sans Medium</vt:lpstr>
      <vt:lpstr>TT Firs Neue</vt:lpstr>
      <vt:lpstr>Open Sans</vt:lpstr>
      <vt:lpstr>Segoe UI Semibold</vt:lpstr>
      <vt:lpstr>Arial</vt:lpstr>
      <vt:lpstr>Montserrat Black</vt:lpstr>
      <vt:lpstr>Montserrat Light</vt:lpstr>
      <vt:lpstr>Open Sans Semibold</vt:lpstr>
      <vt:lpstr>Wingdings</vt:lpstr>
      <vt:lpstr>Open Sans Extrabold</vt:lpstr>
      <vt:lpstr>Open Sans Light</vt:lpstr>
      <vt:lpstr>Malgun Gothic</vt:lpstr>
      <vt:lpstr>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Роман</cp:lastModifiedBy>
  <cp:revision>337</cp:revision>
  <dcterms:created xsi:type="dcterms:W3CDTF">2019-04-06T05:20:47Z</dcterms:created>
  <dcterms:modified xsi:type="dcterms:W3CDTF">2024-06-04T00:07:41Z</dcterms:modified>
</cp:coreProperties>
</file>